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5419FA2-2006-1ABE-7701-32377487338F}">
          <p14:sldIdLst>
            <p14:sldId id="256"/>
            <p14:sldId id="257"/>
            <p14:sldId id="258"/>
          </p14:sldIdLst>
        </p14:section>
        <p14:section name="1 · Use cases" id="{706E0D88-3F6E-0D0D-6DA7-F95901FD443A}">
          <p14:sldIdLst>
            <p14:sldId id="259"/>
            <p14:sldId id="260"/>
            <p14:sldId id="261"/>
          </p14:sldIdLst>
        </p14:section>
        <p14:section name="2 · Technical approach" id="{AD8D934C-BC70-D8E5-8EB5-5597A2CBFFDC}">
          <p14:sldIdLst>
            <p14:sldId id="262"/>
            <p14:sldId id="263"/>
            <p14:sldId id="264"/>
            <p14:sldId id="265"/>
          </p14:sldIdLst>
        </p14:section>
        <p14:section name="3 · On-board AI" id="{ABBD0E4E-12B0-7CD6-B07C-5A8C1457D91B}">
          <p14:sldIdLst>
            <p14:sldId id="266"/>
            <p14:sldId id="267"/>
          </p14:sldIdLst>
        </p14:section>
        <p14:section name="4 · Maturity &amp; evaluation" id="{BD1E38F0-9023-7C96-E87D-29E63A721976}">
          <p14:sldIdLst>
            <p14:sldId id="268"/>
            <p14:sldId id="269"/>
            <p14:sldId id="270"/>
          </p14:sldIdLst>
        </p14:section>
        <p14:section name="Conclusion" id="{999934D7-0FBC-49C3-AA1D-50F7A1623A9D}">
          <p14:sldIdLst>
            <p14:sldId id="271"/>
            <p14:sldId id="272"/>
          </p14:sldIdLst>
        </p14:section>
        <p14:section name="Annex" id="{8B15440A-BE1F-FC6C-C1AA-9D38D1973D0C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5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8601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says the whole story: scenarios are AI-driven AND flight-proven. One sentence of context: Opus Aerospace builds and flies suborbital vehicles; CHESS is the software loop built around those flights.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minute only on the name. Orally: chess AI went from hand-written rules (Deep Blue) to self-play (AlphaZero) — but every engine still decides against the clock, and that is the point: search, evaluation, time. The banner line is the trust message of the whole talk — say it slowly; it answers the qualification question before anyone asks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4 is new versus a classic pitch: we will state plainly what exists, what is in development, and how success will be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operational pain: scenario realism is asserted, not measured. CHESS replaces assumptions with measured data and quantified uncertainty.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user groups, one promise: measured realism. The cost line anchors the Defense interest required by the CAID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Saturation raids are the defining problem of current air defense. The Pawns are exactly that — and the doctrine makes every exercise adversarial by construction.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Honesty first: what the audience sees here runs today. Make clear the AI layers come on top of this working 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live demo moment (30-60 s screen capture): one flight, one verdict. The physics strip explains why blind spots exist — which is what makes the exercise instructive.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innovation: a learning loop with one cycle per flight. Exercises consume the scenarios at every turn of the loop — users do not wait for the loop to finish.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Division of labour: everything heavy and learned happens on the ground; the air segment executes a validated, bounded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tree graphic: grey branches are prepared alternatives, navy is the path actually flown. Adaptation means choosing among validated branches — never improvising outside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Pre-empt the "is a decision tree AI?" question: the learning is in the ground layer (calibrated models, raid optimization); the airborne policy is deliberately bounded for qualification. Own this as a 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buys trust. Everything in column 1 was shown live two slides ago; columns 2 and 3 are commitments, not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technical half of the room: the baselines and metrics are defined now, before the AI exists — that is what makes next year's curves meaningful.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the hard problems converts hostile questions into conversations — and signals engineering maturity despite the early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ask, not on a sale: feedback on the use cases, experimentation partners, flight-test opportunities. That is what a community conference is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Annex — show only if asked about timeline. Quarters intentionally left as placeholders until the flight manifest is confirmed.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opus-mar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472" y="457200"/>
            <a:ext cx="960120" cy="1106424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66928" y="1572768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kern="0" spc="400" dirty="0">
                <a:solidFill>
                  <a:srgbClr val="C9B289"/>
                </a:solidFill>
              </a:defRPr>
            </a:lvl1pPr>
          </a:lstStyle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566928" y="1965960"/>
            <a:ext cx="78638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566928" y="3794760"/>
            <a:ext cx="64008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rgbClr val="C9B289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566928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000" dirty="0">
                <a:solidFill>
                  <a:srgbClr val="9AA4B8"/>
                </a:solidFill>
              </a:defRPr>
            </a:lvl1pPr>
          </a:lstStyle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45952" y="347472"/>
            <a:ext cx="713232" cy="82296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assets/opus-m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968" y="420624"/>
            <a:ext cx="457200" cy="530352"/>
          </a:xfrm>
          <a:prstGeom prst="rect">
            <a:avLst/>
          </a:prstGeom>
        </p:spPr>
      </p:pic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566928" y="384048"/>
            <a:ext cx="996696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700" b="1" dirty="0">
                <a:solidFill>
                  <a:srgbClr val="1B2A4A"/>
                </a:solidFill>
              </a:defRPr>
            </a:lvl1pPr>
          </a:lstStyle>
          <a:p>
            <a:pPr marL="0" indent="0" algn="l">
              <a:buNone/>
            </a:pPr>
            <a:endParaRPr lang="en-US" sz="27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566928" y="1005840"/>
            <a:ext cx="99669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rgbClr val="A98C5F"/>
                </a:solidFill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900" dirty="0">
                <a:solidFill>
                  <a:srgbClr val="A98C5F"/>
                </a:solidFill>
              </a:defRPr>
            </a:lvl1pPr>
          </a:lstStyle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4592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D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4592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D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566928" y="15727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C9B289"/>
                </a:solidFill>
              </a:rPr>
              <a:t>CHESS — OPUS AEROSPACE · CAID 2026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566928" y="196596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AI-driven, flight-proven threat scenarios for air defense</a:t>
            </a:r>
            <a:endParaRPr lang="en-US" sz="3600" dirty="0"/>
          </a:p>
        </p:txBody>
      </p:sp>
      <p:sp>
        <p:nvSpPr>
          <p:cNvPr id="4" name="Text 0"/>
          <p:cNvSpPr>
            <a:spLocks noGrp="1"/>
          </p:cNvSpPr>
          <p:nvPr>
            <p:ph type="body" idx="103" hasCustomPrompt="1"/>
          </p:nvPr>
        </p:nvSpPr>
        <p:spPr>
          <a:xfrm>
            <a:off x="566928" y="379476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C9B289"/>
                </a:solidFill>
              </a:rPr>
              <a:t>Each suborbital flight calibrates the tool; an adaptive onboard AI flies the threat.</a:t>
            </a:r>
            <a:endParaRPr lang="en-US" sz="1600" dirty="0"/>
          </a:p>
        </p:txBody>
      </p:sp>
      <p:sp>
        <p:nvSpPr>
          <p:cNvPr id="5" name="Text 0"/>
          <p:cNvSpPr>
            <a:spLocks noGrp="1"/>
          </p:cNvSpPr>
          <p:nvPr>
            <p:ph type="body" idx="104" hasCustomPrompt="1"/>
          </p:nvPr>
        </p:nvSpPr>
        <p:spPr>
          <a:xfrm>
            <a:off x="566928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dirty="0">
                <a:solidFill>
                  <a:srgbClr val="9AA4B8"/>
                </a:solidFill>
              </a:rPr>
              <a:t>[Presenter]  ·  [Date]  ·  [Classification marking]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66928" y="384048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dirty="0">
                <a:solidFill>
                  <a:srgbClr val="1B2A4A"/>
                </a:solidFill>
              </a:rPr>
              <a:t>Why “CHESS” — decisions against the clock</a:t>
            </a:r>
            <a:endParaRPr lang="en-US" sz="2700" dirty="0"/>
          </a:p>
        </p:txBody>
      </p:sp>
      <p:sp>
        <p:nvSpPr>
          <p:cNvPr id="3" name="Text 1"/>
          <p:cNvSpPr>
            <a:spLocks noGrp="1"/>
          </p:cNvSpPr>
          <p:nvPr>
            <p:ph type="body" idx="103" hasCustomPrompt="1"/>
          </p:nvPr>
        </p:nvSpPr>
        <p:spPr>
          <a:xfrm>
            <a:off x="566928" y="100584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8C5F"/>
                </a:solidFill>
              </a:rPr>
              <a:t>The name is not about playing games: deciding under time pressure, from validated moves only</a:t>
            </a: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body" idx="104" hasCustomPrompt="1"/>
          </p:nvPr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900" dirty="0">
                <a:solidFill>
                  <a:srgbClr val="A98C5F"/>
                </a:solidFill>
              </a:rPr>
              <a:t>CHESS · Introduction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28472" y="4656474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98C5F"/>
                </a:solidFill>
              </a:rPr>
              <a:t>Queen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1877568" y="4655489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4524B"/>
                </a:solidFill>
              </a:rPr>
              <a:t>King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3003661" y="4653059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A8D86"/>
                </a:solidFill>
              </a:rPr>
              <a:t>Pawn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52815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478"/>
                </a:solidFill>
              </a:rPr>
              <a:t>Every threat in a CHESS salvo plays a piece’s role — the doctrine comes in part 1.</a:t>
            </a:r>
            <a:endParaRPr 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783080"/>
          <a:ext cx="7004304" cy="228600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8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</a:rPr>
                        <a:t>In chess</a:t>
                      </a:r>
                      <a:endParaRPr lang="en-US" sz="105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</a:rPr>
                        <a:t>In CHESS</a:t>
                      </a:r>
                      <a:endParaRPr lang="en-US" sz="105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</a:rPr>
                        <a:t>Calibration</a:t>
                      </a:r>
                      <a:endParaRPr lang="en-US" sz="105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6478"/>
                          </a:solidFill>
                        </a:rPr>
                        <a:t>Engine tuned on real games</a:t>
                      </a:r>
                      <a:endParaRPr lang="en-US" sz="105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</a:rPr>
                        <a:t>The tool is calibrated on every flight</a:t>
                      </a:r>
                      <a:endParaRPr lang="en-US" sz="105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</a:rPr>
                        <a:t>Preparation</a:t>
                      </a:r>
                      <a:endParaRPr lang="en-US" sz="105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6478"/>
                          </a:solidFill>
                        </a:rPr>
                        <a:t>Opening book before the game</a:t>
                      </a:r>
                      <a:endParaRPr lang="en-US" sz="105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</a:rPr>
                        <a:t>Mission decision tree uplinked before the flight</a:t>
                      </a:r>
                      <a:endParaRPr lang="en-US" sz="105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</a:rPr>
                        <a:t>Decision</a:t>
                      </a:r>
                      <a:endParaRPr lang="en-US" sz="105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6478"/>
                          </a:solidFill>
                        </a:rPr>
                        <a:t>Best move from the position</a:t>
                      </a:r>
                      <a:endParaRPr lang="en-US" sz="105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</a:rPr>
                        <a:t>Onboard AI selects the next branch from sensor data</a:t>
                      </a:r>
                      <a:endParaRPr lang="en-US" sz="105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</a:rPr>
                        <a:t>Clock</a:t>
                      </a:r>
                      <a:endParaRPr lang="en-US" sz="105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6478"/>
                          </a:solidFill>
                        </a:rPr>
                        <a:t>Each move played in time</a:t>
                      </a:r>
                      <a:endParaRPr lang="en-US" sz="105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</a:rPr>
                        <a:t>Bounded compute (WCET)</a:t>
                      </a:r>
                      <a:endParaRPr lang="en-US" sz="105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709160" y="4343400"/>
            <a:ext cx="6912864" cy="475488"/>
          </a:xfrm>
          <a:prstGeom prst="roundRect">
            <a:avLst>
              <a:gd name="adj" fmla="val 13462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8"/>
          <p:cNvSpPr txBox="1"/>
          <p:nvPr/>
        </p:nvSpPr>
        <p:spPr>
          <a:xfrm>
            <a:off x="4937760" y="4343400"/>
            <a:ext cx="6455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FFFFFF"/>
                </a:solidFill>
              </a:rPr>
              <a:t>One difference: CHESS only plays moves that were validated on the ground.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4592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D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18" name="Graphique 17">
            <a:extLst>
              <a:ext uri="{FF2B5EF4-FFF2-40B4-BE49-F238E27FC236}">
                <a16:creationId xmlns:a16="http://schemas.microsoft.com/office/drawing/2014/main" id="{913942BE-522B-EB17-01A0-6C69D449DA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4268" y="2043734"/>
            <a:ext cx="685800" cy="2657475"/>
          </a:xfrm>
          <a:prstGeom prst="rect">
            <a:avLst/>
          </a:prstGeom>
        </p:spPr>
      </p:pic>
      <p:pic>
        <p:nvPicPr>
          <p:cNvPr id="20" name="Graphique 19">
            <a:extLst>
              <a:ext uri="{FF2B5EF4-FFF2-40B4-BE49-F238E27FC236}">
                <a16:creationId xmlns:a16="http://schemas.microsoft.com/office/drawing/2014/main" id="{EFBB00A8-2FFD-8EE7-F96E-D8652A75E3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9023" y="2221719"/>
            <a:ext cx="609600" cy="2362200"/>
          </a:xfrm>
          <a:prstGeom prst="rect">
            <a:avLst/>
          </a:prstGeom>
        </p:spPr>
      </p:pic>
      <p:pic>
        <p:nvPicPr>
          <p:cNvPr id="22" name="Graphique 21">
            <a:extLst>
              <a:ext uri="{FF2B5EF4-FFF2-40B4-BE49-F238E27FC236}">
                <a16:creationId xmlns:a16="http://schemas.microsoft.com/office/drawing/2014/main" id="{6ECFDA44-52F7-2C0A-23BE-6803B0BDAD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08461" y="2187212"/>
            <a:ext cx="609600" cy="2362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66928" y="384048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A4A"/>
                </a:solidFill>
              </a:rPr>
              <a:t>Agenda</a:t>
            </a:r>
            <a:endParaRPr lang="en-US" sz="2700" dirty="0"/>
          </a:p>
        </p:txBody>
      </p:sp>
      <p:sp>
        <p:nvSpPr>
          <p:cNvPr id="3" name="Text 1"/>
          <p:cNvSpPr>
            <a:spLocks noGrp="1"/>
          </p:cNvSpPr>
          <p:nvPr>
            <p:ph type="body" idx="103" hasCustomPrompt="1"/>
          </p:nvPr>
        </p:nvSpPr>
        <p:spPr>
          <a:xfrm>
            <a:off x="566928" y="100584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8C5F"/>
                </a:solidFill>
              </a:rPr>
              <a:t>Four questions, one learning loop</a:t>
            </a: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body" idx="104" hasCustomPrompt="1"/>
          </p:nvPr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900" dirty="0">
                <a:solidFill>
                  <a:srgbClr val="A98C5F"/>
                </a:solidFill>
              </a:rPr>
              <a:t>CHESS · Introduction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86968" y="1691640"/>
            <a:ext cx="10415016" cy="914400"/>
          </a:xfrm>
          <a:prstGeom prst="roundRect">
            <a:avLst>
              <a:gd name="adj" fmla="val 7000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133856" y="19659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1133856" y="1965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1819656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</a:rPr>
              <a:t>Use cases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167128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8"/>
                </a:solidFill>
              </a:rPr>
              <a:t>What do today's synthetic threats miss, and what does air defense need?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86968" y="2770632"/>
            <a:ext cx="10415016" cy="914400"/>
          </a:xfrm>
          <a:prstGeom prst="roundRect">
            <a:avLst>
              <a:gd name="adj" fmla="val 7000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1133856" y="304495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1133856" y="3044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2898648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</a:rPr>
              <a:t>Technical approach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3246120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8"/>
                </a:solidFill>
              </a:rPr>
              <a:t>What runs today, and how does each flight calibrate the tool?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86968" y="3849624"/>
            <a:ext cx="10415016" cy="914400"/>
          </a:xfrm>
          <a:prstGeom prst="roundRect">
            <a:avLst>
              <a:gd name="adj" fmla="val 7000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1133856" y="412394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1133856" y="4123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397764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</a:rPr>
              <a:t>On-board AI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4325112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8"/>
                </a:solidFill>
              </a:rPr>
              <a:t>How does the threat adapt in flight while staying bounded?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86968" y="4928616"/>
            <a:ext cx="10415016" cy="914400"/>
          </a:xfrm>
          <a:prstGeom prst="roundRect">
            <a:avLst>
              <a:gd name="adj" fmla="val 7000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1133856" y="520293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 txBox="1"/>
          <p:nvPr/>
        </p:nvSpPr>
        <p:spPr>
          <a:xfrm>
            <a:off x="1133856" y="5202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645920" y="505663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</a:rPr>
              <a:t>Maturity &amp; evaluation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1645920" y="5404104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8"/>
                </a:solidFill>
              </a:rPr>
              <a:t>Where do we stand, and how will results be measured?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4592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D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66928" y="384048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A4A"/>
                </a:solidFill>
              </a:rPr>
              <a:t>Limits of synthetic threats</a:t>
            </a:r>
            <a:endParaRPr lang="en-US" sz="2700" dirty="0"/>
          </a:p>
        </p:txBody>
      </p:sp>
      <p:sp>
        <p:nvSpPr>
          <p:cNvPr id="3" name="Text 1"/>
          <p:cNvSpPr>
            <a:spLocks noGrp="1"/>
          </p:cNvSpPr>
          <p:nvPr>
            <p:ph type="body" idx="103" hasCustomPrompt="1"/>
          </p:nvPr>
        </p:nvSpPr>
        <p:spPr>
          <a:xfrm>
            <a:off x="566928" y="100584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8C5F"/>
                </a:solidFill>
              </a:rPr>
              <a:t>Today's threats rest on models, not flights</a:t>
            </a: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body" idx="104" hasCustomPrompt="1"/>
          </p:nvPr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900" dirty="0">
                <a:solidFill>
                  <a:srgbClr val="A98C5F"/>
                </a:solidFill>
              </a:rPr>
              <a:t>CHESS · 1. Use cases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64208"/>
          <a:ext cx="11055096" cy="256032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7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7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</a:rPr>
                        <a:t>Synthetic threats today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</a:rPr>
                        <a:t>Flight-proven threats (CHESS)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</a:rPr>
                        <a:t>Trajectory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</a:rPr>
                        <a:t>Modelled from assumed aerodynamics and propulsion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6-DOF reconstruction of real flights, ground and onboard sensors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</a:rPr>
                        <a:t>Signatures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</a:rPr>
                        <a:t>RCS and IR predicted, rarely validated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Measured on a jet-like threat profile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</a:rPr>
                        <a:t>Uncertainty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</a:rPr>
                        <a:t>Error bars unknown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Dispersion statistics, quantified residual error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</a:rPr>
                        <a:t>Behaviour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</a:rPr>
                        <a:t>Scripted, cannot react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Onboard AI adapts in flight, within a validated decision tree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525780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98C5F"/>
                </a:solidFill>
              </a:rPr>
              <a:t>This is the gap CHESS is built to close: threat scenarios whose physics carry known error bars.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4592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D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66928" y="384048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A4A"/>
                </a:solidFill>
              </a:rPr>
              <a:t>Value for air defense</a:t>
            </a:r>
            <a:endParaRPr lang="en-US" sz="2700" dirty="0"/>
          </a:p>
        </p:txBody>
      </p:sp>
      <p:sp>
        <p:nvSpPr>
          <p:cNvPr id="3" name="Text 1"/>
          <p:cNvSpPr>
            <a:spLocks noGrp="1"/>
          </p:cNvSpPr>
          <p:nvPr>
            <p:ph type="body" idx="103" hasCustomPrompt="1"/>
          </p:nvPr>
        </p:nvSpPr>
        <p:spPr>
          <a:xfrm>
            <a:off x="566928" y="100584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8C5F"/>
                </a:solidFill>
              </a:rPr>
              <a:t>Every scenario is anchored in measured flight data, not assumptions</a:t>
            </a: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body" idx="104" hasCustomPrompt="1"/>
          </p:nvPr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900" dirty="0">
                <a:solidFill>
                  <a:srgbClr val="A98C5F"/>
                </a:solidFill>
              </a:rPr>
              <a:t>CHESS · 1. Use cases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3502152" cy="1627632"/>
          </a:xfrm>
          <a:prstGeom prst="roundRect">
            <a:avLst>
              <a:gd name="adj" fmla="val 3933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768096" y="1792224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</a:rPr>
              <a:t>C2 evaluation bench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139696"/>
            <a:ext cx="30998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478"/>
                </a:solidFill>
              </a:rPr>
              <a:t>Assess C2 chains against raids whose trajectories and signatures were measured.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664208"/>
            <a:ext cx="3502152" cy="1627632"/>
          </a:xfrm>
          <a:prstGeom prst="roundRect">
            <a:avLst>
              <a:gd name="adj" fmla="val 3933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4544568" y="1792224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</a:rPr>
              <a:t>Operator training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44568" y="2139696"/>
            <a:ext cx="30998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478"/>
                </a:solidFill>
              </a:rPr>
              <a:t>Train crews on threat behaviour that has actually flown, including in-flight adaptation.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19872" y="1664208"/>
            <a:ext cx="3502152" cy="1627632"/>
          </a:xfrm>
          <a:prstGeom prst="roundRect">
            <a:avLst>
              <a:gd name="adj" fmla="val 3933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8321040" y="1792224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</a:rPr>
              <a:t>GBAD planning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139696"/>
            <a:ext cx="30998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478"/>
                </a:solidFill>
              </a:rPr>
              <a:t>Plan ground-based air defense on doctrinal and achievable scenarios.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361188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478"/>
                </a:solidFill>
              </a:rPr>
              <a:t>A live exercise: </a:t>
            </a:r>
            <a:r>
              <a:rPr lang="en-US" sz="1300" b="1" dirty="0">
                <a:solidFill>
                  <a:srgbClr val="1B2A4A"/>
                </a:solidFill>
              </a:rPr>
              <a:t>months of preparation for a single pass. </a:t>
            </a:r>
            <a:r>
              <a:rPr lang="en-US" sz="1300" dirty="0">
                <a:solidFill>
                  <a:srgbClr val="5A6478"/>
                </a:solidFill>
              </a:rPr>
              <a:t>In CHESS: </a:t>
            </a:r>
            <a:r>
              <a:rPr lang="en-US" sz="1300" b="1" dirty="0">
                <a:solidFill>
                  <a:srgbClr val="1B2A4A"/>
                </a:solidFill>
              </a:rPr>
              <a:t>a scenario replays in minutes, without engaging any real asset.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4343400"/>
            <a:ext cx="11055096" cy="475488"/>
          </a:xfrm>
          <a:prstGeom prst="roundRect">
            <a:avLst>
              <a:gd name="adj" fmla="val 13462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 txBox="1"/>
          <p:nvPr/>
        </p:nvSpPr>
        <p:spPr>
          <a:xfrm>
            <a:off x="795528" y="4343400"/>
            <a:ext cx="10597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FFFFFF"/>
                </a:solidFill>
              </a:rPr>
              <a:t>Your operational needs feed directly into the definition of the next flight.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4592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D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66928" y="384048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A4A"/>
                </a:solidFill>
              </a:rPr>
              <a:t>The CHESS doctrine — every threat plays a role</a:t>
            </a:r>
            <a:endParaRPr lang="en-US" sz="2700" dirty="0"/>
          </a:p>
        </p:txBody>
      </p:sp>
      <p:sp>
        <p:nvSpPr>
          <p:cNvPr id="3" name="Text 1"/>
          <p:cNvSpPr>
            <a:spLocks noGrp="1"/>
          </p:cNvSpPr>
          <p:nvPr>
            <p:ph type="body" idx="103" hasCustomPrompt="1"/>
          </p:nvPr>
        </p:nvSpPr>
        <p:spPr>
          <a:xfrm>
            <a:off x="566928" y="100584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8C5F"/>
                </a:solidFill>
              </a:rPr>
              <a:t>The salvo is a plan, not a script</a:t>
            </a: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body" idx="104" hasCustomPrompt="1"/>
          </p:nvPr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900" dirty="0">
                <a:solidFill>
                  <a:srgbClr val="A98C5F"/>
                </a:solidFill>
              </a:rPr>
              <a:t>CHESS · 1. Use cases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3502152" cy="1737360"/>
          </a:xfrm>
          <a:prstGeom prst="roundRect">
            <a:avLst>
              <a:gd name="adj" fmla="val 3684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768096" y="1819656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B4524B"/>
                </a:solidFill>
              </a:rPr>
              <a:t>King — the real threat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167128"/>
            <a:ext cx="24048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478"/>
                </a:solidFill>
              </a:rPr>
              <a:t>The real trajectory, complete. The one that must be detected early enough to engage.</a:t>
            </a:r>
            <a:endParaRPr lang="en-US" sz="1100" dirty="0"/>
          </a:p>
        </p:txBody>
      </p:sp>
      <p:pic>
        <p:nvPicPr>
          <p:cNvPr id="8" name="Image 0" descr="assets/rocket-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72" y="2103120"/>
            <a:ext cx="493776" cy="12344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343400" y="1691640"/>
            <a:ext cx="3502152" cy="1737360"/>
          </a:xfrm>
          <a:prstGeom prst="roundRect">
            <a:avLst>
              <a:gd name="adj" fmla="val 3684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 txBox="1"/>
          <p:nvPr/>
        </p:nvSpPr>
        <p:spPr>
          <a:xfrm>
            <a:off x="4544568" y="1819656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A98C5F"/>
                </a:solidFill>
              </a:rPr>
              <a:t>Queen — the premium decoy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544568" y="2167128"/>
            <a:ext cx="24048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478"/>
                </a:solidFill>
              </a:rPr>
              <a:t>Replays the King's flight, rotated — a larger signature, built to steal the track.</a:t>
            </a:r>
            <a:endParaRPr lang="en-US" sz="1100" dirty="0"/>
          </a:p>
        </p:txBody>
      </p:sp>
      <p:pic>
        <p:nvPicPr>
          <p:cNvPr id="12" name="Image 1" descr="assets/rocket-qu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744" y="2103120"/>
            <a:ext cx="493776" cy="12344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119872" y="1691640"/>
            <a:ext cx="3502152" cy="1737360"/>
          </a:xfrm>
          <a:prstGeom prst="roundRect">
            <a:avLst>
              <a:gd name="adj" fmla="val 3684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0"/>
          <p:cNvSpPr txBox="1"/>
          <p:nvPr/>
        </p:nvSpPr>
        <p:spPr>
          <a:xfrm>
            <a:off x="8321040" y="1819656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A8D86"/>
                </a:solidFill>
              </a:rPr>
              <a:t>Pawns — saturation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8321040" y="2167128"/>
            <a:ext cx="24048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478"/>
                </a:solidFill>
              </a:rPr>
              <a:t>Own physics, short burn, launched in numbers — to drown the King in noise.</a:t>
            </a:r>
            <a:endParaRPr lang="en-US" sz="1100" dirty="0"/>
          </a:p>
        </p:txBody>
      </p:sp>
      <p:pic>
        <p:nvPicPr>
          <p:cNvPr id="16" name="Image 2" descr="assets/rocket-paw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2216" y="2103120"/>
            <a:ext cx="493776" cy="12344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98448" y="3840480"/>
            <a:ext cx="9592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B2A4A"/>
                </a:solidFill>
              </a:rPr>
              <a:t>The salvo plays against the operator: a composition designed to exploit the weaknesses of the defense layout. Crews train against an adversary — not against a script.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4592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D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66928" y="384048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A4A"/>
                </a:solidFill>
              </a:rPr>
              <a:t>What runs today — the simulator</a:t>
            </a:r>
            <a:endParaRPr lang="en-US" sz="2700" dirty="0"/>
          </a:p>
        </p:txBody>
      </p:sp>
      <p:sp>
        <p:nvSpPr>
          <p:cNvPr id="3" name="Text 1"/>
          <p:cNvSpPr>
            <a:spLocks noGrp="1"/>
          </p:cNvSpPr>
          <p:nvPr>
            <p:ph type="body" idx="103" hasCustomPrompt="1"/>
          </p:nvPr>
        </p:nvSpPr>
        <p:spPr>
          <a:xfrm>
            <a:off x="566928" y="100584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8C5F"/>
                </a:solidFill>
              </a:rPr>
              <a:t>A complete exercise flow, operational now</a:t>
            </a: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body" idx="104" hasCustomPrompt="1"/>
          </p:nvPr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900" dirty="0">
                <a:solidFill>
                  <a:srgbClr val="A98C5F"/>
                </a:solidFill>
              </a:rPr>
              <a:t>CHESS · 2. Technical approach</a:t>
            </a:r>
            <a:endParaRPr lang="en-US" sz="900" dirty="0"/>
          </a:p>
        </p:txBody>
      </p:sp>
      <p:pic>
        <p:nvPicPr>
          <p:cNvPr id="5" name="Image 0" descr="assets/03-simulation-si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627632"/>
            <a:ext cx="5344668" cy="3006376"/>
          </a:xfrm>
          <a:prstGeom prst="rect">
            <a:avLst/>
          </a:prstGeom>
        </p:spPr>
      </p:pic>
      <p:pic>
        <p:nvPicPr>
          <p:cNvPr id="6" name="Image 1" descr="assets/08-mission-threa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7356" y="1627632"/>
            <a:ext cx="5344668" cy="30063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66928" y="4688872"/>
            <a:ext cx="53446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</a:rPr>
              <a:t>Launch-site selection. </a:t>
            </a:r>
            <a:r>
              <a:rPr lang="en-US" sz="1050" dirty="0">
                <a:solidFill>
                  <a:srgbClr val="5A6478"/>
                </a:solidFill>
              </a:rPr>
              <a:t>Six real European bases — site weather and elevation feed the simulation.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6277356" y="4688872"/>
            <a:ext cx="53446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</a:rPr>
              <a:t>Salvo composition. </a:t>
            </a:r>
            <a:r>
              <a:rPr lang="en-US" sz="1050" dirty="0">
                <a:solidFill>
                  <a:srgbClr val="5A6478"/>
                </a:solidFill>
              </a:rPr>
              <a:t>1-5 threats, azimuth and elevation per threat, roles assigned by the doctrine.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566928" y="5623560"/>
            <a:ext cx="11055096" cy="475488"/>
          </a:xfrm>
          <a:prstGeom prst="roundRect">
            <a:avLst>
              <a:gd name="adj" fmla="val 13462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 txBox="1"/>
          <p:nvPr/>
        </p:nvSpPr>
        <p:spPr>
          <a:xfrm>
            <a:off x="795528" y="5623560"/>
            <a:ext cx="10597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</a:rPr>
              <a:t>Running today: the physics simulation core and the full exercise flow. The AI layers are being built on top of 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4592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D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66928" y="384048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A4A"/>
                </a:solidFill>
              </a:rPr>
              <a:t>What runs today — flight &amp; debrief</a:t>
            </a:r>
            <a:endParaRPr lang="en-US" sz="2700" dirty="0"/>
          </a:p>
        </p:txBody>
      </p:sp>
      <p:sp>
        <p:nvSpPr>
          <p:cNvPr id="3" name="Text 1"/>
          <p:cNvSpPr>
            <a:spLocks noGrp="1"/>
          </p:cNvSpPr>
          <p:nvPr>
            <p:ph type="body" idx="103" hasCustomPrompt="1"/>
          </p:nvPr>
        </p:nvSpPr>
        <p:spPr>
          <a:xfrm>
            <a:off x="566928" y="100584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8C5F"/>
                </a:solidFill>
              </a:rPr>
              <a:t>Physics-based detection, not a distance check</a:t>
            </a: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body" idx="104" hasCustomPrompt="1"/>
          </p:nvPr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900" dirty="0">
                <a:solidFill>
                  <a:srgbClr val="A98C5F"/>
                </a:solidFill>
              </a:rPr>
              <a:t>CHESS · 2. Technical approach</a:t>
            </a:r>
            <a:endParaRPr lang="en-US" sz="900" dirty="0"/>
          </a:p>
        </p:txBody>
      </p:sp>
      <p:pic>
        <p:nvPicPr>
          <p:cNvPr id="6" name="Image 1" descr="assets/14-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356" y="1627632"/>
            <a:ext cx="5344668" cy="30063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66928" y="4688872"/>
            <a:ext cx="53446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</a:rPr>
              <a:t>Real-time 3D flight. </a:t>
            </a:r>
            <a:r>
              <a:rPr lang="en-US" sz="1050" dirty="0">
                <a:solidFill>
                  <a:srgbClr val="5A6478"/>
                </a:solidFill>
              </a:rPr>
              <a:t>Tactical map, radar beam, live detection status of the King.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6277356" y="4688872"/>
            <a:ext cx="53446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</a:rPr>
              <a:t>Post-flight debrief. </a:t>
            </a:r>
            <a:r>
              <a:rPr lang="en-US" sz="1050" dirty="0">
                <a:solidFill>
                  <a:srgbClr val="5A6478"/>
                </a:solidFill>
              </a:rPr>
              <a:t>Coverage volume, vertical cut, network verdict, per-radar analysis.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566928" y="5623560"/>
            <a:ext cx="11055096" cy="475488"/>
          </a:xfrm>
          <a:prstGeom prst="roundRect">
            <a:avLst>
              <a:gd name="adj" fmla="val 13462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 txBox="1"/>
          <p:nvPr/>
        </p:nvSpPr>
        <p:spPr>
          <a:xfrm>
            <a:off x="795528" y="5623560"/>
            <a:ext cx="10597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Radar horizon (4/3 refraction)  ·  radar equation (4th-root RCS)  ·  aspect RCS: ~0.08 m² nose-on vs ~1.2 m² broadside  ·  ceiling &amp; scan rate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4592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D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FB6E50D7-587D-AB26-4BC9-C5DDF41656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21" y="1627632"/>
            <a:ext cx="5477281" cy="30063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66928" y="384048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A4A"/>
                </a:solidFill>
              </a:rPr>
              <a:t>The iterative loop — one cycle per flight</a:t>
            </a:r>
            <a:endParaRPr lang="en-US" sz="2700" dirty="0"/>
          </a:p>
        </p:txBody>
      </p:sp>
      <p:sp>
        <p:nvSpPr>
          <p:cNvPr id="3" name="Text 1"/>
          <p:cNvSpPr>
            <a:spLocks noGrp="1"/>
          </p:cNvSpPr>
          <p:nvPr>
            <p:ph type="body" idx="103" hasCustomPrompt="1"/>
          </p:nvPr>
        </p:nvSpPr>
        <p:spPr>
          <a:xfrm>
            <a:off x="566928" y="100584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8C5F"/>
                </a:solidFill>
              </a:rPr>
              <a:t>Fly, measure, calibrate, refine</a:t>
            </a: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body" idx="104" hasCustomPrompt="1"/>
          </p:nvPr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900" dirty="0">
                <a:solidFill>
                  <a:srgbClr val="A98C5F"/>
                </a:solidFill>
              </a:rPr>
              <a:t>CHESS · 2. Technical approach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2066544" cy="1901952"/>
          </a:xfrm>
          <a:prstGeom prst="roundRect">
            <a:avLst>
              <a:gd name="adj" fmla="val 3365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713232" y="19568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713232" y="1956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60704" y="1947672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</a:rPr>
              <a:t>Initiation flight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487168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5A6478"/>
                </a:solidFill>
              </a:rPr>
              <a:t>First real dataset</a:t>
            </a:r>
            <a:endParaRPr lang="en-US" sz="880" dirty="0"/>
          </a:p>
          <a:p>
            <a:pPr marL="127000" indent="-1270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5A6478"/>
                </a:solidFill>
              </a:rPr>
              <a:t>Ballistic profile (V1)</a:t>
            </a:r>
            <a:endParaRPr lang="en-US" sz="880" dirty="0"/>
          </a:p>
          <a:p>
            <a:pPr marL="127000" indent="-1270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5A6478"/>
                </a:solidFill>
              </a:rPr>
              <a:t>Seeds the models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647188" y="2743200"/>
            <a:ext cx="219456" cy="0"/>
          </a:xfrm>
          <a:prstGeom prst="line">
            <a:avLst/>
          </a:prstGeom>
          <a:noFill/>
          <a:ln w="22225">
            <a:solidFill>
              <a:srgbClr val="A98C5F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880360" y="1828800"/>
            <a:ext cx="2066544" cy="1901952"/>
          </a:xfrm>
          <a:prstGeom prst="roundRect">
            <a:avLst>
              <a:gd name="adj" fmla="val 3365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026664" y="19568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3026664" y="1956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374136" y="1947672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</a:rPr>
              <a:t>Instrumented flight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044952" y="2487168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5A6478"/>
                </a:solidFill>
              </a:rPr>
              <a:t>Suborbital carrier</a:t>
            </a:r>
            <a:endParaRPr lang="en-US" sz="880" dirty="0"/>
          </a:p>
          <a:p>
            <a:pPr marL="127000" indent="-1270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5A6478"/>
                </a:solidFill>
              </a:rPr>
              <a:t>6-DOF reconstruction</a:t>
            </a:r>
            <a:endParaRPr lang="en-US" sz="880" dirty="0"/>
          </a:p>
          <a:p>
            <a:pPr marL="127000" indent="-1270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5A6478"/>
                </a:solidFill>
              </a:rPr>
              <a:t>RCS &amp; IR signatures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960620" y="2743200"/>
            <a:ext cx="219456" cy="0"/>
          </a:xfrm>
          <a:prstGeom prst="line">
            <a:avLst/>
          </a:prstGeom>
          <a:noFill/>
          <a:ln w="22225">
            <a:solidFill>
              <a:srgbClr val="A98C5F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5193792" y="1828800"/>
            <a:ext cx="2066544" cy="1901952"/>
          </a:xfrm>
          <a:prstGeom prst="roundRect">
            <a:avLst>
              <a:gd name="adj" fmla="val 3365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5340096" y="19568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 txBox="1"/>
          <p:nvPr/>
        </p:nvSpPr>
        <p:spPr>
          <a:xfrm>
            <a:off x="5340096" y="1956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687568" y="1947672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</a:rPr>
              <a:t>Ground processing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358384" y="2487168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5A6478"/>
                </a:solidFill>
              </a:rPr>
              <a:t>Post-flight reconstruction</a:t>
            </a:r>
            <a:endParaRPr lang="en-US" sz="880" dirty="0"/>
          </a:p>
          <a:p>
            <a:pPr marL="127000" indent="-1270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5A6478"/>
                </a:solidFill>
              </a:rPr>
              <a:t>Prediction vs observation</a:t>
            </a:r>
            <a:endParaRPr lang="en-US" sz="880" dirty="0"/>
          </a:p>
          <a:p>
            <a:pPr marL="127000" indent="-1270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5A6478"/>
                </a:solidFill>
              </a:rPr>
              <a:t>Residual error quantified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274052" y="2743200"/>
            <a:ext cx="219456" cy="0"/>
          </a:xfrm>
          <a:prstGeom prst="line">
            <a:avLst/>
          </a:prstGeom>
          <a:noFill/>
          <a:ln w="22225">
            <a:solidFill>
              <a:srgbClr val="A98C5F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7507224" y="1828800"/>
            <a:ext cx="2066544" cy="1901952"/>
          </a:xfrm>
          <a:prstGeom prst="roundRect">
            <a:avLst>
              <a:gd name="adj" fmla="val 3365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7653528" y="19568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7653528" y="1956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001000" y="1947672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</a:rPr>
              <a:t>Scenario study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671816" y="2487168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5A6478"/>
                </a:solidFill>
              </a:rPr>
              <a:t>Raids generated under calibrated models</a:t>
            </a:r>
            <a:endParaRPr lang="en-US" sz="880" dirty="0"/>
          </a:p>
          <a:p>
            <a:pPr marL="127000" indent="-1270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5A6478"/>
                </a:solidFill>
              </a:rPr>
              <a:t>Doctrinal AND achievable</a:t>
            </a:r>
            <a:endParaRPr lang="en-US" sz="880" dirty="0"/>
          </a:p>
          <a:p>
            <a:pPr marL="127000" indent="-1270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5A6478"/>
                </a:solidFill>
              </a:rPr>
              <a:t>Shortlist of best raids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9587484" y="2743200"/>
            <a:ext cx="219456" cy="0"/>
          </a:xfrm>
          <a:prstGeom prst="line">
            <a:avLst/>
          </a:prstGeom>
          <a:noFill/>
          <a:ln w="22225">
            <a:solidFill>
              <a:srgbClr val="A98C5F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9820656" y="1828800"/>
            <a:ext cx="2066544" cy="1901952"/>
          </a:xfrm>
          <a:prstGeom prst="roundRect">
            <a:avLst>
              <a:gd name="adj" fmla="val 3365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9966960" y="19568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 txBox="1"/>
          <p:nvPr/>
        </p:nvSpPr>
        <p:spPr>
          <a:xfrm>
            <a:off x="9966960" y="1956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314432" y="1947672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</a:rPr>
              <a:t>Parameter refinement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9985248" y="2487168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5A6478"/>
                </a:solidFill>
              </a:rPr>
              <a:t>Gaps in the envelope</a:t>
            </a:r>
            <a:endParaRPr lang="en-US" sz="880" dirty="0"/>
          </a:p>
          <a:p>
            <a:pPr marL="127000" indent="-1270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5A6478"/>
                </a:solidFill>
              </a:rPr>
              <a:t>Next signatures to measure</a:t>
            </a:r>
            <a:endParaRPr lang="en-US" sz="880" dirty="0"/>
          </a:p>
          <a:p>
            <a:pPr marL="127000" indent="-1270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5A6478"/>
                </a:solidFill>
              </a:rPr>
              <a:t>Mission decision tree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 flipV="1">
            <a:off x="10853928" y="1481328"/>
            <a:ext cx="0" cy="292608"/>
          </a:xfrm>
          <a:prstGeom prst="line">
            <a:avLst/>
          </a:prstGeom>
          <a:noFill/>
          <a:ln w="22225">
            <a:solidFill>
              <a:srgbClr val="A98C5F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 flipH="1">
            <a:off x="3913632" y="1481328"/>
            <a:ext cx="6940296" cy="0"/>
          </a:xfrm>
          <a:prstGeom prst="line">
            <a:avLst/>
          </a:prstGeom>
          <a:noFill/>
          <a:ln w="22225">
            <a:solidFill>
              <a:srgbClr val="A98C5F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3913632" y="1481328"/>
            <a:ext cx="0" cy="292608"/>
          </a:xfrm>
          <a:prstGeom prst="line">
            <a:avLst/>
          </a:prstGeom>
          <a:noFill/>
          <a:ln w="22225">
            <a:solidFill>
              <a:srgbClr val="A98C5F"/>
            </a:solidFill>
            <a:prstDash val="dash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 txBox="1"/>
          <p:nvPr/>
        </p:nvSpPr>
        <p:spPr>
          <a:xfrm>
            <a:off x="4096512" y="1225296"/>
            <a:ext cx="6574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A98C5F"/>
                </a:solidFill>
              </a:rPr>
              <a:t>next flight: refined parameters &amp; mission decision tree uplinked to the onboard AI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507224" y="4096512"/>
            <a:ext cx="4379976" cy="841248"/>
          </a:xfrm>
          <a:prstGeom prst="roundRect">
            <a:avLst>
              <a:gd name="adj" fmla="val 7609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7653528" y="422452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A98C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 txBox="1"/>
          <p:nvPr/>
        </p:nvSpPr>
        <p:spPr>
          <a:xfrm>
            <a:off x="7653528" y="4224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00100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</a:rPr>
              <a:t>Users — Air defense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8001000" y="4498848"/>
            <a:ext cx="3739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8"/>
                </a:solidFill>
              </a:rPr>
              <a:t>C2 evaluation bench  ·  operator training  ·  GBAD planning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540496" y="3749040"/>
            <a:ext cx="0" cy="310896"/>
          </a:xfrm>
          <a:prstGeom prst="line">
            <a:avLst/>
          </a:prstGeom>
          <a:noFill/>
          <a:ln w="22225">
            <a:solidFill>
              <a:srgbClr val="8A8D86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566928" y="5394960"/>
            <a:ext cx="11055096" cy="475488"/>
          </a:xfrm>
          <a:prstGeom prst="roundRect">
            <a:avLst>
              <a:gd name="adj" fmla="val 13462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 txBox="1"/>
          <p:nvPr/>
        </p:nvSpPr>
        <p:spPr>
          <a:xfrm>
            <a:off x="795528" y="5394960"/>
            <a:ext cx="10597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FFFFFF"/>
                </a:solidFill>
              </a:rPr>
              <a:t>Each flight calibrates the tool: models sharpen, scenarios tighten, the decision tree improves.</a:t>
            </a:r>
            <a:endParaRPr lang="en-US" sz="125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4592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D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66928" y="384048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A4A"/>
                </a:solidFill>
              </a:rPr>
              <a:t>Calibrated tool, adaptive AI</a:t>
            </a:r>
            <a:endParaRPr lang="en-US" sz="2700" dirty="0"/>
          </a:p>
        </p:txBody>
      </p:sp>
      <p:sp>
        <p:nvSpPr>
          <p:cNvPr id="3" name="Text 1"/>
          <p:cNvSpPr>
            <a:spLocks noGrp="1"/>
          </p:cNvSpPr>
          <p:nvPr>
            <p:ph type="body" idx="103" hasCustomPrompt="1"/>
          </p:nvPr>
        </p:nvSpPr>
        <p:spPr>
          <a:xfrm>
            <a:off x="566928" y="100584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8C5F"/>
                </a:solidFill>
              </a:rPr>
              <a:t>Calibrated on the ground, adaptive in flight</a:t>
            </a: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body" idx="104" hasCustomPrompt="1"/>
          </p:nvPr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900" dirty="0">
                <a:solidFill>
                  <a:srgbClr val="A98C5F"/>
                </a:solidFill>
              </a:rPr>
              <a:t>CHESS · 2. Technical approach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5120640" cy="420624"/>
          </a:xfrm>
          <a:prstGeom prst="roundRect">
            <a:avLst>
              <a:gd name="adj" fmla="val 1521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795528" y="164592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</a:rPr>
              <a:t>Ground · calibrated tool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01384" y="1645920"/>
            <a:ext cx="5120640" cy="420624"/>
          </a:xfrm>
          <a:prstGeom prst="roundRect">
            <a:avLst>
              <a:gd name="adj" fmla="val 1521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6729984" y="164592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</a:rPr>
              <a:t>Onboard · adaptive AI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2231136"/>
            <a:ext cx="5120640" cy="658368"/>
          </a:xfrm>
          <a:prstGeom prst="roundRect">
            <a:avLst>
              <a:gd name="adj" fmla="val 9722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768096" y="2377440"/>
            <a:ext cx="4718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A"/>
                </a:solidFill>
              </a:rPr>
              <a:t>Models calibrated on reconstructed flight data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3017520"/>
            <a:ext cx="5120640" cy="658368"/>
          </a:xfrm>
          <a:prstGeom prst="roundRect">
            <a:avLst>
              <a:gd name="adj" fmla="val 9722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768096" y="3163824"/>
            <a:ext cx="4718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A"/>
                </a:solidFill>
              </a:rPr>
              <a:t>Raid generation constrained by the calibrated models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803904"/>
            <a:ext cx="5120640" cy="658368"/>
          </a:xfrm>
          <a:prstGeom prst="roundRect">
            <a:avLst>
              <a:gd name="adj" fmla="val 9722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768096" y="3950208"/>
            <a:ext cx="4718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A"/>
                </a:solidFill>
              </a:rPr>
              <a:t>Optimization shortlists doctrinal and achievable raids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4590288"/>
            <a:ext cx="5120640" cy="658368"/>
          </a:xfrm>
          <a:prstGeom prst="roundRect">
            <a:avLst>
              <a:gd name="adj" fmla="val 9722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 txBox="1"/>
          <p:nvPr/>
        </p:nvSpPr>
        <p:spPr>
          <a:xfrm>
            <a:off x="768096" y="4736592"/>
            <a:ext cx="4718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A"/>
                </a:solidFill>
              </a:rPr>
              <a:t>Outputs the mission decision tree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01384" y="2231136"/>
            <a:ext cx="5120640" cy="658368"/>
          </a:xfrm>
          <a:prstGeom prst="roundRect">
            <a:avLst>
              <a:gd name="adj" fmla="val 9722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6702552" y="2377440"/>
            <a:ext cx="4718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A"/>
                </a:solidFill>
              </a:rPr>
              <a:t>Receives the refined tree before each flight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01384" y="3017520"/>
            <a:ext cx="5120640" cy="658368"/>
          </a:xfrm>
          <a:prstGeom prst="roundRect">
            <a:avLst>
              <a:gd name="adj" fmla="val 9722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 txBox="1"/>
          <p:nvPr/>
        </p:nvSpPr>
        <p:spPr>
          <a:xfrm>
            <a:off x="6702552" y="3163824"/>
            <a:ext cx="4718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A"/>
                </a:solidFill>
              </a:rPr>
              <a:t>Processes onboard sensor data in real time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01384" y="3803904"/>
            <a:ext cx="5120640" cy="658368"/>
          </a:xfrm>
          <a:prstGeom prst="roundRect">
            <a:avLst>
              <a:gd name="adj" fmla="val 9722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 txBox="1"/>
          <p:nvPr/>
        </p:nvSpPr>
        <p:spPr>
          <a:xfrm>
            <a:off x="6702552" y="3950208"/>
            <a:ext cx="4718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A"/>
                </a:solidFill>
              </a:rPr>
              <a:t>Adapts its choices to what it perceives, like a chess move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01384" y="4590288"/>
            <a:ext cx="5120640" cy="658368"/>
          </a:xfrm>
          <a:prstGeom prst="roundRect">
            <a:avLst>
              <a:gd name="adj" fmla="val 9722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 txBox="1"/>
          <p:nvPr/>
        </p:nvSpPr>
        <p:spPr>
          <a:xfrm>
            <a:off x="6702552" y="4736592"/>
            <a:ext cx="4718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A"/>
                </a:solidFill>
              </a:rPr>
              <a:t>Adapts the trajectory within bounded compute (WCET)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852160" y="3429000"/>
            <a:ext cx="484632" cy="0"/>
          </a:xfrm>
          <a:prstGeom prst="line">
            <a:avLst/>
          </a:prstGeom>
          <a:noFill/>
          <a:ln w="25400">
            <a:solidFill>
              <a:srgbClr val="A98C5F"/>
            </a:solidFill>
            <a:prstDash val="dash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 txBox="1"/>
          <p:nvPr/>
        </p:nvSpPr>
        <p:spPr>
          <a:xfrm>
            <a:off x="5852160" y="352044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98C5F"/>
                </a:solidFill>
              </a:rPr>
              <a:t>uplink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562356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</a:rPr>
              <a:t>Flights calibrate the tool; the onboard AI adapts in flight.</a:t>
            </a:r>
            <a:endParaRPr lang="en-US" sz="13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4592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D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66928" y="384048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A4A"/>
                </a:solidFill>
              </a:rPr>
              <a:t>On-board AI</a:t>
            </a:r>
            <a:endParaRPr lang="en-US" sz="2700" dirty="0"/>
          </a:p>
        </p:txBody>
      </p:sp>
      <p:sp>
        <p:nvSpPr>
          <p:cNvPr id="3" name="Text 1"/>
          <p:cNvSpPr>
            <a:spLocks noGrp="1"/>
          </p:cNvSpPr>
          <p:nvPr>
            <p:ph type="body" idx="103" hasCustomPrompt="1"/>
          </p:nvPr>
        </p:nvSpPr>
        <p:spPr>
          <a:xfrm>
            <a:off x="566928" y="100584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8C5F"/>
                </a:solidFill>
              </a:rPr>
              <a:t>The threat adapts in flight, like a chess player</a:t>
            </a: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body" idx="104" hasCustomPrompt="1"/>
          </p:nvPr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900" dirty="0">
                <a:solidFill>
                  <a:srgbClr val="A98C5F"/>
                </a:solidFill>
              </a:rPr>
              <a:t>CHESS · 3. On-board AI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2487168" cy="658368"/>
          </a:xfrm>
          <a:prstGeom prst="roundRect">
            <a:avLst>
              <a:gd name="adj" fmla="val 9722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658368" y="1664208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</a:rPr>
              <a:t>Onboard sensors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072384" y="1993392"/>
            <a:ext cx="256032" cy="0"/>
          </a:xfrm>
          <a:prstGeom prst="line">
            <a:avLst/>
          </a:prstGeom>
          <a:noFill/>
          <a:ln w="22225">
            <a:solidFill>
              <a:srgbClr val="A98C5F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346704" y="1664208"/>
            <a:ext cx="2487168" cy="658368"/>
          </a:xfrm>
          <a:prstGeom prst="roundRect">
            <a:avLst>
              <a:gd name="adj" fmla="val 9722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3438144" y="1664208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</a:rPr>
              <a:t>Sensor processing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52160" y="1993392"/>
            <a:ext cx="256032" cy="0"/>
          </a:xfrm>
          <a:prstGeom prst="line">
            <a:avLst/>
          </a:prstGeom>
          <a:noFill/>
          <a:ln w="22225">
            <a:solidFill>
              <a:srgbClr val="A98C5F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6126480" y="1664208"/>
            <a:ext cx="2487168" cy="658368"/>
          </a:xfrm>
          <a:prstGeom prst="roundRect">
            <a:avLst>
              <a:gd name="adj" fmla="val 9722"/>
            </a:avLst>
          </a:prstGeom>
          <a:solidFill>
            <a:srgbClr val="EDE7DF"/>
          </a:solidFill>
          <a:ln w="12700">
            <a:solidFill>
              <a:srgbClr val="A98C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6217920" y="1664208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</a:rPr>
              <a:t>'Chess' branch selection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31936" y="1993392"/>
            <a:ext cx="256032" cy="0"/>
          </a:xfrm>
          <a:prstGeom prst="line">
            <a:avLst/>
          </a:prstGeom>
          <a:noFill/>
          <a:ln w="22225">
            <a:solidFill>
              <a:srgbClr val="A98C5F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8906256" y="1664208"/>
            <a:ext cx="2487168" cy="658368"/>
          </a:xfrm>
          <a:prstGeom prst="roundRect">
            <a:avLst>
              <a:gd name="adj" fmla="val 9722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8997696" y="1664208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</a:rPr>
              <a:t>Trajectory adaptation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2606040"/>
            <a:ext cx="11055096" cy="475488"/>
          </a:xfrm>
          <a:prstGeom prst="roundRect">
            <a:avLst>
              <a:gd name="adj" fmla="val 13462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795528" y="2606040"/>
            <a:ext cx="10597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</a:rPr>
              <a:t>Bounded compute (WCET): predictable worst-case timing at every step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 flipV="1">
            <a:off x="841248" y="3931920"/>
            <a:ext cx="1188720" cy="548640"/>
          </a:xfrm>
          <a:prstGeom prst="line">
            <a:avLst/>
          </a:prstGeom>
          <a:noFill/>
          <a:ln w="15875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841248" y="4480560"/>
            <a:ext cx="1188720" cy="548640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 flipV="1">
            <a:off x="2029968" y="3657600"/>
            <a:ext cx="1188720" cy="274320"/>
          </a:xfrm>
          <a:prstGeom prst="line">
            <a:avLst/>
          </a:prstGeom>
          <a:noFill/>
          <a:ln w="15875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2029968" y="3931920"/>
            <a:ext cx="1188720" cy="320040"/>
          </a:xfrm>
          <a:prstGeom prst="line">
            <a:avLst/>
          </a:prstGeom>
          <a:noFill/>
          <a:ln w="15875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 flipV="1">
            <a:off x="2029968" y="4754880"/>
            <a:ext cx="1188720" cy="274320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2029968" y="5029200"/>
            <a:ext cx="1188720" cy="274320"/>
          </a:xfrm>
          <a:prstGeom prst="line">
            <a:avLst/>
          </a:prstGeom>
          <a:noFill/>
          <a:ln w="15875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 flipV="1">
            <a:off x="3218688" y="4572000"/>
            <a:ext cx="1188720" cy="182880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777240" y="4416552"/>
            <a:ext cx="128016" cy="128016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1965960" y="3867912"/>
            <a:ext cx="128016" cy="128016"/>
          </a:xfrm>
          <a:prstGeom prst="ellipse">
            <a:avLst/>
          </a:prstGeom>
          <a:solidFill>
            <a:srgbClr val="C9C2B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1965960" y="4965192"/>
            <a:ext cx="128016" cy="128016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3154680" y="3593592"/>
            <a:ext cx="128016" cy="128016"/>
          </a:xfrm>
          <a:prstGeom prst="ellipse">
            <a:avLst/>
          </a:prstGeom>
          <a:solidFill>
            <a:srgbClr val="C9C2B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3154680" y="4187952"/>
            <a:ext cx="128016" cy="128016"/>
          </a:xfrm>
          <a:prstGeom prst="ellipse">
            <a:avLst/>
          </a:prstGeom>
          <a:solidFill>
            <a:srgbClr val="C9C2B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154680" y="4690872"/>
            <a:ext cx="128016" cy="128016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3154680" y="5239512"/>
            <a:ext cx="128016" cy="128016"/>
          </a:xfrm>
          <a:prstGeom prst="ellipse">
            <a:avLst/>
          </a:prstGeom>
          <a:solidFill>
            <a:srgbClr val="C9C2B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4343400" y="4507992"/>
            <a:ext cx="128016" cy="128016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 txBox="1"/>
          <p:nvPr/>
        </p:nvSpPr>
        <p:spPr>
          <a:xfrm>
            <a:off x="5852160" y="38862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</a:rPr>
              <a:t>Adaptive, never unbounded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5852160" y="429768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</a:rPr>
              <a:t>Each move is chosen in flight from the uplinked mission decision tree. Every branch was defined and refined on the ground.</a:t>
            </a:r>
            <a:endParaRPr lang="en-US" sz="12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4592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D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66928" y="384048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A4A"/>
                </a:solidFill>
              </a:rPr>
              <a:t>Where exactly is the AI?</a:t>
            </a:r>
            <a:endParaRPr lang="en-US" sz="2700" dirty="0"/>
          </a:p>
        </p:txBody>
      </p:sp>
      <p:sp>
        <p:nvSpPr>
          <p:cNvPr id="3" name="Text 1"/>
          <p:cNvSpPr>
            <a:spLocks noGrp="1"/>
          </p:cNvSpPr>
          <p:nvPr>
            <p:ph type="body" idx="103" hasCustomPrompt="1"/>
          </p:nvPr>
        </p:nvSpPr>
        <p:spPr>
          <a:xfrm>
            <a:off x="566928" y="100584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8C5F"/>
                </a:solidFill>
              </a:rPr>
              <a:t>Three components, one deliberate design choice</a:t>
            </a: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body" idx="104" hasCustomPrompt="1"/>
          </p:nvPr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900" dirty="0">
                <a:solidFill>
                  <a:srgbClr val="A98C5F"/>
                </a:solidFill>
              </a:rPr>
              <a:t>CHESS · 3. On-board AI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3502152" cy="2286000"/>
          </a:xfrm>
          <a:prstGeom prst="roundRect">
            <a:avLst>
              <a:gd name="adj" fmla="val 2800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768096" y="1819656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</a:rPr>
              <a:t>Learned layer — scenario generation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167128"/>
            <a:ext cx="309981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478"/>
                </a:solidFill>
              </a:rPr>
              <a:t>Candidate raids are generated and scored under models calibrated on flight data. The learned layer constrains what is doctrinal AND achievable.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02152" cy="2286000"/>
          </a:xfrm>
          <a:prstGeom prst="roundRect">
            <a:avLst>
              <a:gd name="adj" fmla="val 2800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4544568" y="1819656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</a:rPr>
              <a:t>Onboard perception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44568" y="2167128"/>
            <a:ext cx="309981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478"/>
                </a:solidFill>
              </a:rPr>
              <a:t>Real-time processing of onboard sensor data, to recognise the situation among the prepared branches of the tree.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19872" y="1691640"/>
            <a:ext cx="3502152" cy="2286000"/>
          </a:xfrm>
          <a:prstGeom prst="roundRect">
            <a:avLst>
              <a:gd name="adj" fmla="val 2800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8321040" y="1819656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</a:rPr>
              <a:t>Bounded decision policy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167128"/>
            <a:ext cx="309981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478"/>
                </a:solidFill>
              </a:rPr>
              <a:t>The uplinked mission decision tree. Every branch validated on the ground, every step within proven time bounds — a qualifiability choice, not a limitation.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8096" y="356616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768096" y="35661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</a:rPr>
              <a:t>IN DEV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44568" y="356616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4544568" y="35661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</a:rPr>
              <a:t>IN DEV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321040" y="356616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 txBox="1"/>
          <p:nvPr/>
        </p:nvSpPr>
        <p:spPr>
          <a:xfrm>
            <a:off x="8321040" y="35661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</a:rPr>
              <a:t>IN DEV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66928" y="4434840"/>
            <a:ext cx="11055096" cy="475488"/>
          </a:xfrm>
          <a:prstGeom prst="roundRect">
            <a:avLst>
              <a:gd name="adj" fmla="val 13462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795528" y="4434840"/>
            <a:ext cx="10597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FFFFFF"/>
                </a:solidFill>
              </a:rPr>
              <a:t>Frugal, bounded, qualifiable — by design.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512064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478"/>
                </a:solidFill>
              </a:rPr>
              <a:t>We chose a bounded policy before building the AI: in this domain, an explainable decision beats an impressive one.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4592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D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66928" y="384048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A4A"/>
                </a:solidFill>
              </a:rPr>
              <a:t>Where we stand today</a:t>
            </a:r>
            <a:endParaRPr lang="en-US" sz="2700" dirty="0"/>
          </a:p>
        </p:txBody>
      </p:sp>
      <p:sp>
        <p:nvSpPr>
          <p:cNvPr id="3" name="Text 1"/>
          <p:cNvSpPr>
            <a:spLocks noGrp="1"/>
          </p:cNvSpPr>
          <p:nvPr>
            <p:ph type="body" idx="103" hasCustomPrompt="1"/>
          </p:nvPr>
        </p:nvSpPr>
        <p:spPr>
          <a:xfrm>
            <a:off x="566928" y="100584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8C5F"/>
                </a:solidFill>
              </a:rPr>
              <a:t>An early-stage project — stated plainly</a:t>
            </a: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body" idx="104" hasCustomPrompt="1"/>
          </p:nvPr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900" dirty="0">
                <a:solidFill>
                  <a:srgbClr val="A98C5F"/>
                </a:solidFill>
              </a:rPr>
              <a:t>CHESS · 4. Maturity &amp; evaluation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3502152" cy="3108960"/>
          </a:xfrm>
          <a:prstGeom prst="roundRect">
            <a:avLst>
              <a:gd name="adj" fmla="val 2059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768096" y="1874520"/>
            <a:ext cx="1737360" cy="256032"/>
          </a:xfrm>
          <a:prstGeom prst="roundRect">
            <a:avLst>
              <a:gd name="adj" fmla="val 17857"/>
            </a:avLst>
          </a:prstGeom>
          <a:solidFill>
            <a:srgbClr val="A98C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768096" y="18745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</a:rPr>
              <a:t>RUNNING TODAY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33172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</a:rPr>
              <a:t>Physics simulation core</a:t>
            </a:r>
            <a:endParaRPr lang="en-US" sz="1100" dirty="0"/>
          </a:p>
          <a:p>
            <a:pPr marL="127000" indent="-1270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</a:rPr>
              <a:t>Full exercise flow: sites, radars, salvo, 3D flight, debrief</a:t>
            </a:r>
            <a:endParaRPr lang="en-US" sz="1100" dirty="0"/>
          </a:p>
          <a:p>
            <a:pPr marL="127000" indent="-1270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</a:rPr>
              <a:t>Detection physics with per-radar verdicts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502152" cy="3108960"/>
          </a:xfrm>
          <a:prstGeom prst="roundRect">
            <a:avLst>
              <a:gd name="adj" fmla="val 2059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544568" y="1874520"/>
            <a:ext cx="1737360" cy="256032"/>
          </a:xfrm>
          <a:prstGeom prst="roundRect">
            <a:avLst>
              <a:gd name="adj" fmla="val 1785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4544568" y="18745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</a:rPr>
              <a:t>IN DEVELOPMENT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562856" y="233172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</a:rPr>
              <a:t>Configuration advisor (search over the simulator)</a:t>
            </a:r>
            <a:endParaRPr lang="en-US" sz="1100" dirty="0"/>
          </a:p>
          <a:p>
            <a:pPr marL="127000" indent="-1270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</a:rPr>
              <a:t>Raid generation &amp; optimization — the learned layer</a:t>
            </a:r>
            <a:endParaRPr lang="en-US" sz="1100" dirty="0"/>
          </a:p>
          <a:p>
            <a:pPr marL="127000" indent="-1270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</a:rPr>
              <a:t>Onboard policy prototype (bounded branch selection)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19872" y="1691640"/>
            <a:ext cx="3502152" cy="3108960"/>
          </a:xfrm>
          <a:prstGeom prst="roundRect">
            <a:avLst>
              <a:gd name="adj" fmla="val 2059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8321040" y="1874520"/>
            <a:ext cx="1737360" cy="256032"/>
          </a:xfrm>
          <a:prstGeom prst="roundRect">
            <a:avLst>
              <a:gd name="adj" fmla="val 17857"/>
            </a:avLst>
          </a:prstGeom>
          <a:solidFill>
            <a:srgbClr val="8A8D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8321040" y="18745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</a:rPr>
              <a:t>PLANNED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8339328" y="233172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</a:rPr>
              <a:t>First instrumented flights</a:t>
            </a:r>
            <a:endParaRPr lang="en-US" sz="1100" dirty="0"/>
          </a:p>
          <a:p>
            <a:pPr marL="127000" indent="-1270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</a:rPr>
              <a:t>First calibration cycle on measured data</a:t>
            </a:r>
            <a:endParaRPr lang="en-US" sz="1100" dirty="0"/>
          </a:p>
          <a:p>
            <a:pPr marL="127000" indent="-1270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</a:rPr>
              <a:t>Adversary evaluation campaign vs scripted baseline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507492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98C5F"/>
                </a:solidFill>
              </a:rPr>
              <a:t>No claimed results, no demo magic: this page is the contract we intend to be measured against.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4592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D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66928" y="384048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A4A"/>
                </a:solidFill>
              </a:rPr>
              <a:t>How we will measure success</a:t>
            </a:r>
            <a:endParaRPr lang="en-US" sz="2700" dirty="0"/>
          </a:p>
        </p:txBody>
      </p:sp>
      <p:sp>
        <p:nvSpPr>
          <p:cNvPr id="3" name="Text 1"/>
          <p:cNvSpPr>
            <a:spLocks noGrp="1"/>
          </p:cNvSpPr>
          <p:nvPr>
            <p:ph type="body" idx="103" hasCustomPrompt="1"/>
          </p:nvPr>
        </p:nvSpPr>
        <p:spPr>
          <a:xfrm>
            <a:off x="566928" y="100584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8C5F"/>
                </a:solidFill>
              </a:rPr>
              <a:t>The evaluation protocol exists before the AI</a:t>
            </a: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body" idx="104" hasCustomPrompt="1"/>
          </p:nvPr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900" dirty="0">
                <a:solidFill>
                  <a:srgbClr val="A98C5F"/>
                </a:solidFill>
              </a:rPr>
              <a:t>CHESS · 4. Maturity &amp; evaluation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3502152" cy="2148840"/>
          </a:xfrm>
          <a:prstGeom prst="roundRect">
            <a:avLst>
              <a:gd name="adj" fmla="val 2979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768096" y="1819656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</a:rPr>
              <a:t>Adversary value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167128"/>
            <a:ext cx="30998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478"/>
                </a:solidFill>
              </a:rPr>
              <a:t>Baseline: scripted salvos.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478"/>
                </a:solidFill>
              </a:rPr>
              <a:t>Metrics: blind-spot discovery rate, reduction of defender lead time at equal raid budget.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02152" cy="2148840"/>
          </a:xfrm>
          <a:prstGeom prst="roundRect">
            <a:avLst>
              <a:gd name="adj" fmla="val 2979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4544568" y="1819656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</a:rPr>
              <a:t>Calibration quality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44568" y="2167128"/>
            <a:ext cx="30998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478"/>
                </a:solidFill>
              </a:rPr>
              <a:t>Residual error between prediction and observation, quantified after each flight — published per cycle.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19872" y="1691640"/>
            <a:ext cx="3502152" cy="2148840"/>
          </a:xfrm>
          <a:prstGeom prst="roundRect">
            <a:avLst>
              <a:gd name="adj" fmla="val 2979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8321040" y="1819656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</a:rPr>
              <a:t>Bounded execution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167128"/>
            <a:ext cx="30998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478"/>
                </a:solidFill>
              </a:rPr>
              <a:t>Measured worst-case execution time on the target compute — every branch, every step, every time.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4206240"/>
            <a:ext cx="11055096" cy="475488"/>
          </a:xfrm>
          <a:prstGeom prst="roundRect">
            <a:avLst>
              <a:gd name="adj" fmla="val 13462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795528" y="4206240"/>
            <a:ext cx="10597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FFFFFF"/>
                </a:solidFill>
              </a:rPr>
              <a:t>Results will be measured, not claimed.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4592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D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66928" y="384048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A4A"/>
                </a:solidFill>
              </a:rPr>
              <a:t>Hard problems we are working on</a:t>
            </a:r>
            <a:endParaRPr lang="en-US" sz="2700" dirty="0"/>
          </a:p>
        </p:txBody>
      </p:sp>
      <p:sp>
        <p:nvSpPr>
          <p:cNvPr id="3" name="Text 1"/>
          <p:cNvSpPr>
            <a:spLocks noGrp="1"/>
          </p:cNvSpPr>
          <p:nvPr>
            <p:ph type="body" idx="103" hasCustomPrompt="1"/>
          </p:nvPr>
        </p:nvSpPr>
        <p:spPr>
          <a:xfrm>
            <a:off x="566928" y="100584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8C5F"/>
                </a:solidFill>
              </a:rPr>
              <a:t>Named now, so they don't surprise us later</a:t>
            </a: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body" idx="104" hasCustomPrompt="1"/>
          </p:nvPr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900" dirty="0">
                <a:solidFill>
                  <a:srgbClr val="A98C5F"/>
                </a:solidFill>
              </a:rPr>
              <a:t>CHESS · 4. Maturity &amp; evaluation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3502152" cy="2286000"/>
          </a:xfrm>
          <a:prstGeom prst="roundRect">
            <a:avLst>
              <a:gd name="adj" fmla="val 2800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768096" y="1819656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</a:rPr>
              <a:t>Sim-to-real gap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167128"/>
            <a:ext cx="309981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478"/>
                </a:solidFill>
              </a:rPr>
              <a:t>How far does a model calibrated on N flights remain valid outside the measured envelope? Extrapolation must carry explicit error bars.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02152" cy="2286000"/>
          </a:xfrm>
          <a:prstGeom prst="roundRect">
            <a:avLst>
              <a:gd name="adj" fmla="val 2800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4544568" y="1819656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</a:rPr>
              <a:t>In-flight signature measurement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44568" y="2167128"/>
            <a:ext cx="309981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478"/>
                </a:solidFill>
              </a:rPr>
              <a:t>Instrumenting RCS &amp; IR on a suborbital carrier is hard: sensor choice, geometry, and reconciliation with ground measurements are open work.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19872" y="1691640"/>
            <a:ext cx="3502152" cy="2286000"/>
          </a:xfrm>
          <a:prstGeom prst="roundRect">
            <a:avLst>
              <a:gd name="adj" fmla="val 2800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8321040" y="1819656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</a:rPr>
              <a:t>Real-time guarantees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167128"/>
            <a:ext cx="309981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478"/>
                </a:solidFill>
              </a:rPr>
              <a:t>Keeping every decision step within proven worst-case bounds (WCET) on embedded hardware, as the tree grows richer.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434340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A98C5F"/>
                </a:solidFill>
              </a:rPr>
              <a:t>If you have fought one of these problems, we want to talk to you.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4592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D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66928" y="384048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A4A"/>
                </a:solidFill>
              </a:rPr>
              <a:t>Conclusion</a:t>
            </a:r>
            <a:endParaRPr lang="en-US" sz="2700" dirty="0"/>
          </a:p>
        </p:txBody>
      </p:sp>
      <p:sp>
        <p:nvSpPr>
          <p:cNvPr id="3" name="Text 1"/>
          <p:cNvSpPr>
            <a:spLocks noGrp="1"/>
          </p:cNvSpPr>
          <p:nvPr>
            <p:ph type="body" idx="103" hasCustomPrompt="1"/>
          </p:nvPr>
        </p:nvSpPr>
        <p:spPr>
          <a:xfrm>
            <a:off x="566928" y="100584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8C5F"/>
                </a:solidFill>
              </a:rPr>
              <a:t>Closing the loop between flight and air defense</a:t>
            </a: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body" idx="104" hasCustomPrompt="1"/>
          </p:nvPr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900" dirty="0">
                <a:solidFill>
                  <a:srgbClr val="A98C5F"/>
                </a:solidFill>
              </a:rPr>
              <a:t>CHESS · Conclusion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3502152" cy="1920240"/>
          </a:xfrm>
          <a:prstGeom prst="roundRect">
            <a:avLst>
              <a:gd name="adj" fmla="val 3333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768096" y="1965960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768096" y="1965960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37744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</a:rPr>
              <a:t>Measured, not modelled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907792"/>
            <a:ext cx="3099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A6478"/>
                </a:solidFill>
              </a:rPr>
              <a:t>Reconstructed trajectories and measured signatures, with known error bars.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502152" cy="1920240"/>
          </a:xfrm>
          <a:prstGeom prst="roundRect">
            <a:avLst>
              <a:gd name="adj" fmla="val 3333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544568" y="1965960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4544568" y="1965960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237744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</a:rPr>
              <a:t>Calibrated with every flight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44568" y="2907792"/>
            <a:ext cx="3099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A6478"/>
                </a:solidFill>
              </a:rPr>
              <a:t>Each flight calibrates the tool and closes a gap in the envelope.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19872" y="1783080"/>
            <a:ext cx="3502152" cy="1920240"/>
          </a:xfrm>
          <a:prstGeom prst="roundRect">
            <a:avLst>
              <a:gd name="adj" fmla="val 3333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8321040" y="1965960"/>
            <a:ext cx="420624" cy="310896"/>
          </a:xfrm>
          <a:prstGeom prst="roundRect">
            <a:avLst>
              <a:gd name="adj" fmla="val 1764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8321040" y="1965960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37744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</a:rPr>
              <a:t>Adaptive, yet bounded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907792"/>
            <a:ext cx="3099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A6478"/>
                </a:solidFill>
              </a:rPr>
              <a:t>The onboard AI adapts in flight within a validated decision tree and bounded compute.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4343400"/>
            <a:ext cx="11055096" cy="475488"/>
          </a:xfrm>
          <a:prstGeom prst="roundRect">
            <a:avLst>
              <a:gd name="adj" fmla="val 13462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795528" y="4343400"/>
            <a:ext cx="10597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</a:rPr>
              <a:t>What we are looking for: operational feedback on the use cases  ·  experimentation partners  ·  flight-test opportunities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502920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8C5F"/>
                </a:solidFill>
              </a:rPr>
              <a:t>[Contact name] · [email]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4592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D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opus-mar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848" y="1554480"/>
            <a:ext cx="914400" cy="10607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83464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Thank you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0" y="37033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9B289"/>
                </a:solidFill>
              </a:rPr>
              <a:t>Questions?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0" y="42519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4B8"/>
                </a:solidFill>
              </a:rPr>
              <a:t>[Contact name] · [email] · [phone]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66928" y="384048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A4A"/>
                </a:solidFill>
              </a:rPr>
              <a:t>Annex · Roadmap</a:t>
            </a:r>
            <a:endParaRPr lang="en-US" sz="2700" dirty="0"/>
          </a:p>
        </p:txBody>
      </p:sp>
      <p:sp>
        <p:nvSpPr>
          <p:cNvPr id="3" name="Text 1"/>
          <p:cNvSpPr>
            <a:spLocks noGrp="1"/>
          </p:cNvSpPr>
          <p:nvPr>
            <p:ph type="body" idx="103" hasCustomPrompt="1"/>
          </p:nvPr>
        </p:nvSpPr>
        <p:spPr>
          <a:xfrm>
            <a:off x="566928" y="100584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8C5F"/>
                </a:solidFill>
              </a:rPr>
              <a:t>Next developments of the tool</a:t>
            </a: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body" idx="104" hasCustomPrompt="1"/>
          </p:nvPr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900" dirty="0">
                <a:solidFill>
                  <a:srgbClr val="A98C5F"/>
                </a:solidFill>
              </a:rPr>
              <a:t>CHESS · Annex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167128" y="1645920"/>
            <a:ext cx="9454896" cy="786384"/>
          </a:xfrm>
          <a:prstGeom prst="roundRect">
            <a:avLst>
              <a:gd name="adj" fmla="val 8140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1417320" cy="786384"/>
          </a:xfrm>
          <a:prstGeom prst="roundRect">
            <a:avLst>
              <a:gd name="adj" fmla="val 697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566928" y="173736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0482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9B289"/>
                </a:solidFill>
              </a:rPr>
              <a:t>[Q_ 20__]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395728" y="175564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</a:rPr>
              <a:t>Initiation flight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395728" y="2057400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8"/>
                </a:solidFill>
              </a:rPr>
              <a:t>Ballistic profile (V1): first real dataset, seeds the models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167128" y="2578608"/>
            <a:ext cx="9454896" cy="786384"/>
          </a:xfrm>
          <a:prstGeom prst="roundRect">
            <a:avLst>
              <a:gd name="adj" fmla="val 8140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566928" y="2578608"/>
            <a:ext cx="1417320" cy="786384"/>
          </a:xfrm>
          <a:prstGeom prst="roundRect">
            <a:avLst>
              <a:gd name="adj" fmla="val 697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566928" y="26700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29809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9B289"/>
                </a:solidFill>
              </a:rPr>
              <a:t>[Q_ 20__]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395728" y="2688336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</a:rPr>
              <a:t>First instrumented flights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395728" y="2990088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8"/>
                </a:solidFill>
              </a:rPr>
              <a:t>6-DOF reconstruction, RCS &amp; IR signatures, dispersion: first calibration of the tool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167128" y="3511296"/>
            <a:ext cx="9454896" cy="786384"/>
          </a:xfrm>
          <a:prstGeom prst="roundRect">
            <a:avLst>
              <a:gd name="adj" fmla="val 8140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566928" y="3511296"/>
            <a:ext cx="1417320" cy="786384"/>
          </a:xfrm>
          <a:prstGeom prst="roundRect">
            <a:avLst>
              <a:gd name="adj" fmla="val 697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 txBox="1"/>
          <p:nvPr/>
        </p:nvSpPr>
        <p:spPr>
          <a:xfrm>
            <a:off x="566928" y="360273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2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39136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9B289"/>
                </a:solidFill>
              </a:rPr>
              <a:t>[Q_ 20__]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2395728" y="3621024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</a:rPr>
              <a:t>Scenario generation for users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2395728" y="3922776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8"/>
                </a:solidFill>
              </a:rPr>
              <a:t>Raids generated under calibrated models, shortlists for C2 bench, training and GBAD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167128" y="4443984"/>
            <a:ext cx="9454896" cy="786384"/>
          </a:xfrm>
          <a:prstGeom prst="roundRect">
            <a:avLst>
              <a:gd name="adj" fmla="val 8140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566928" y="4443984"/>
            <a:ext cx="1417320" cy="786384"/>
          </a:xfrm>
          <a:prstGeom prst="roundRect">
            <a:avLst>
              <a:gd name="adj" fmla="val 697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566928" y="453542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4846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9B289"/>
                </a:solidFill>
              </a:rPr>
              <a:t>[Q_ 20__]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2395728" y="4553712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</a:rPr>
              <a:t>Adaptive onboard AI in flight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2395728" y="4855464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8"/>
                </a:solidFill>
              </a:rPr>
              <a:t>Real-time branch selection within the uplinked tree, bounded compute (WCET)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167128" y="5376672"/>
            <a:ext cx="9454896" cy="786384"/>
          </a:xfrm>
          <a:prstGeom prst="roundRect">
            <a:avLst>
              <a:gd name="adj" fmla="val 8140"/>
            </a:avLst>
          </a:prstGeom>
          <a:solidFill>
            <a:srgbClr val="EDE7DF"/>
          </a:solidFill>
          <a:ln w="9525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566928" y="5376672"/>
            <a:ext cx="1417320" cy="786384"/>
          </a:xfrm>
          <a:prstGeom prst="roundRect">
            <a:avLst>
              <a:gd name="adj" fmla="val 697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 txBox="1"/>
          <p:nvPr/>
        </p:nvSpPr>
        <p:spPr>
          <a:xfrm>
            <a:off x="566928" y="546811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4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57790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9B289"/>
                </a:solidFill>
              </a:rPr>
              <a:t>[Q_ 20__]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2395728" y="548640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</a:rPr>
              <a:t>Operational loop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2395728" y="5788152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8"/>
                </a:solidFill>
              </a:rPr>
              <a:t>One cycle per flight, operational needs drive each next flight definition</a:t>
            </a:r>
            <a:endParaRPr lang="en-US" sz="10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4592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D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us CHESS">
  <a:themeElements>
    <a:clrScheme name="Opus CHESS">
      <a:dk1>
        <a:srgbClr val="1B2A4A"/>
      </a:dk1>
      <a:lt1>
        <a:srgbClr val="FFFFFF"/>
      </a:lt1>
      <a:dk2>
        <a:srgbClr val="5A6478"/>
      </a:dk2>
      <a:lt2>
        <a:srgbClr val="EDE7DF"/>
      </a:lt2>
      <a:accent1>
        <a:srgbClr val="A98C5F"/>
      </a:accent1>
      <a:accent2>
        <a:srgbClr val="B4524B"/>
      </a:accent2>
      <a:accent3>
        <a:srgbClr val="8A8D86"/>
      </a:accent3>
      <a:accent4>
        <a:srgbClr val="2E4370"/>
      </a:accent4>
      <a:accent5>
        <a:srgbClr val="C9B289"/>
      </a:accent5>
      <a:accent6>
        <a:srgbClr val="6B7A99"/>
      </a:accent6>
      <a:hlink>
        <a:srgbClr val="A98C5F"/>
      </a:hlink>
      <a:folHlink>
        <a:srgbClr val="8A8D86"/>
      </a:folHlink>
    </a:clrScheme>
    <a:fontScheme name="Opus CHESS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2243</Words>
  <Application>Microsoft Office PowerPoint</Application>
  <PresentationFormat>Grand écran</PresentationFormat>
  <Paragraphs>292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Opus CHESS</vt:lpstr>
      <vt:lpstr>AI-driven, flight-proven threat scenarios for air defense</vt:lpstr>
      <vt:lpstr>Why “CHESS” — decisions against the clock</vt:lpstr>
      <vt:lpstr>Agenda</vt:lpstr>
      <vt:lpstr>Limits of synthetic threats</vt:lpstr>
      <vt:lpstr>Value for air defense</vt:lpstr>
      <vt:lpstr>The CHESS doctrine — every threat plays a role</vt:lpstr>
      <vt:lpstr>What runs today — the simulator</vt:lpstr>
      <vt:lpstr>What runs today — flight &amp; debrief</vt:lpstr>
      <vt:lpstr>The iterative loop — one cycle per flight</vt:lpstr>
      <vt:lpstr>Calibrated tool, adaptive AI</vt:lpstr>
      <vt:lpstr>On-board AI</vt:lpstr>
      <vt:lpstr>Where exactly is the AI?</vt:lpstr>
      <vt:lpstr>Where we stand today</vt:lpstr>
      <vt:lpstr>How we will measure success</vt:lpstr>
      <vt:lpstr>Hard problems we are working on</vt:lpstr>
      <vt:lpstr>Conclusion</vt:lpstr>
      <vt:lpstr>Présentation PowerPoint</vt:lpstr>
      <vt:lpstr>Annex · Roadmap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CHESS - AI-driven, flight-proven threat scenarios for air defense</dc:title>
  <dc:subject>CHESS - CAID 2026</dc:subject>
  <dc:creator>Opus Aerospace</dc:creator>
  <cp:lastModifiedBy>Abdeldjallil Dekkiche</cp:lastModifiedBy>
  <cp:revision>2</cp:revision>
  <dcterms:created xsi:type="dcterms:W3CDTF">2026-10-14T14:12:12Z</dcterms:created>
  <dcterms:modified xsi:type="dcterms:W3CDTF">2026-10-14T15:07:14Z</dcterms:modified>
</cp:coreProperties>
</file>